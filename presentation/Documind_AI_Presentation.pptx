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8229600" cy="8229600"/>
          </a:xfrm>
          <a:prstGeom prst="ellipse">
            <a:avLst/>
          </a:prstGeom>
          <a:solidFill>
            <a:srgbClr val="10B981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3657600"/>
            <a:ext cx="6400800" cy="6400800"/>
          </a:xfrm>
          <a:prstGeom prst="ellipse">
            <a:avLst/>
          </a:prstGeom>
          <a:solidFill>
            <a:srgbClr val="3B82F6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502920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ECEFF3"/>
                </a:solidFill>
                <a:latin typeface="Segoe UI"/>
              </a:rPr>
              <a:t>Documind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8036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3B8"/>
                </a:solidFill>
                <a:latin typeface="Segoe UI"/>
              </a:rPr>
              <a:t>Enterprise AI Platform for Chatting, Editing, and Collaborating on PDF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947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B981"/>
                </a:solidFill>
                <a:latin typeface="Segoe UI"/>
              </a:rP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CEFF3"/>
                </a:solidFill>
                <a:latin typeface="Segoe UI"/>
              </a:rPr>
              <a:t>Muhammad Abdullah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4114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CEFF3"/>
                </a:solidFill>
                <a:latin typeface="Segoe UI"/>
              </a:rPr>
              <a:t>Raja Ali Haider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4805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CEFF3"/>
                </a:solidFill>
                <a:latin typeface="Segoe UI"/>
              </a:rPr>
              <a:t>Muhammad Saad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44805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CEFF3"/>
                </a:solidFill>
                <a:latin typeface="Segoe UI"/>
              </a:rPr>
              <a:t>Sathyaa Narayan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7607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A3B8"/>
                </a:solidFill>
                <a:latin typeface="Segoe UI"/>
              </a:rPr>
              <a:t>Superior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035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A3B8"/>
                </a:solidFill>
                <a:latin typeface="Segoe UI"/>
              </a:rPr>
              <a:t>Department of Computer Science  |  Supervisor: Alen Rafugodinov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03504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0B981"/>
                </a:solidFill>
                <a:latin typeface="Segoe U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B981"/>
                </a:solidFill>
                <a:latin typeface="Segoe U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CEFF3"/>
                </a:solidFill>
                <a:latin typeface="Segoe UI"/>
              </a:rPr>
              <a:t>The Problem &amp; 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AA3B8"/>
                </a:solidFill>
                <a:latin typeface="Segoe UI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39112"/>
            <a:ext cx="109728" cy="109728"/>
          </a:xfrm>
          <a:prstGeom prst="rect">
            <a:avLst/>
          </a:prstGeom>
          <a:solidFill>
            <a:srgbClr val="9A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846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9AA3B8"/>
                </a:solidFill>
                <a:latin typeface="Segoe UI"/>
              </a:rPr>
              <a:t>Long PDFs take hours to read, cross-reference, and act on manually.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16352"/>
            <a:ext cx="109728" cy="109728"/>
          </a:xfrm>
          <a:prstGeom prst="rect">
            <a:avLst/>
          </a:prstGeom>
          <a:solidFill>
            <a:srgbClr val="9A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846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9AA3B8"/>
                </a:solidFill>
                <a:latin typeface="Segoe UI"/>
              </a:rPr>
              <a:t>Summarizing, editing, e-signing, and quizzing each need separate, disconnected apps.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593592"/>
            <a:ext cx="109728" cy="109728"/>
          </a:xfrm>
          <a:prstGeom prst="rect">
            <a:avLst/>
          </a:prstGeom>
          <a:solidFill>
            <a:srgbClr val="9A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4846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9AA3B8"/>
                </a:solidFill>
                <a:latin typeface="Segoe UI"/>
              </a:rPr>
              <a:t>No shared, live workspace for teams to actually collaborate on a document together.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370832"/>
            <a:ext cx="109728" cy="109728"/>
          </a:xfrm>
          <a:prstGeom prst="rect">
            <a:avLst/>
          </a:prstGeom>
          <a:solidFill>
            <a:srgbClr val="9A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4846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9AA3B8"/>
                </a:solidFill>
                <a:latin typeface="Segoe UI"/>
              </a:rPr>
              <a:t>Generic AI chat gives answers with no way to verify they're grounded in the source.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0B981"/>
                </a:solidFill>
                <a:latin typeface="Segoe UI"/>
              </a:rPr>
              <a:t>OUR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039112"/>
            <a:ext cx="10972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9659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CEFF3"/>
                </a:solidFill>
                <a:latin typeface="Segoe UI"/>
              </a:rPr>
              <a:t>One platform to chat, summarize, quiz, edit, sign, redact, and collaborate on any PDF.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953512"/>
            <a:ext cx="10972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8803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CEFF3"/>
                </a:solidFill>
                <a:latin typeface="Segoe UI"/>
              </a:rPr>
              <a:t>Every AI answer is cited and clickable — jump straight to the exact source page.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867912"/>
            <a:ext cx="109728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794760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ECEFF3"/>
                </a:solidFill>
                <a:latin typeface="Segoe UI"/>
              </a:rPr>
              <a:t>Live team workspaces, an AI agent, automations, and a public developer API.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9AA3B8"/>
                </a:solidFill>
                <a:latin typeface="Segoe UI"/>
              </a:rPr>
              <a:t>BUILT WITH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440680"/>
            <a:ext cx="2432304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40680"/>
            <a:ext cx="243230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ECEFF3"/>
                </a:solidFill>
                <a:latin typeface="Segoe UI"/>
              </a:rPr>
              <a:t>React 19 + TypeScript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9544" y="544068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9544" y="5440680"/>
            <a:ext cx="2331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ECEFF3"/>
                </a:solidFill>
                <a:latin typeface="Segoe UI"/>
              </a:rPr>
              <a:t>FastAPI + WebSockets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78424" y="5440680"/>
            <a:ext cx="2834640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78424" y="5440680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ECEFF3"/>
                </a:solidFill>
                <a:latin typeface="Segoe UI"/>
              </a:rPr>
              <a:t>Google Gemini + LangChain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50224" y="5440680"/>
            <a:ext cx="2231136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50224" y="5440680"/>
            <a:ext cx="223113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ECEFF3"/>
                </a:solidFill>
                <a:latin typeface="Segoe UI"/>
              </a:rPr>
              <a:t>FAISS Vector Search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9788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897880"/>
            <a:ext cx="1325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ECEFF3"/>
                </a:solidFill>
                <a:latin typeface="Segoe UI"/>
              </a:rPr>
              <a:t>PostgreSQL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03120" y="589788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03120" y="5897880"/>
            <a:ext cx="172821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ECEFF3"/>
                </a:solidFill>
                <a:latin typeface="Segoe UI"/>
              </a:rPr>
              <a:t>Stripe Billing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968496" y="5897880"/>
            <a:ext cx="2834640" cy="36576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68496" y="5897880"/>
            <a:ext cx="2834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ECEFF3"/>
                </a:solidFill>
                <a:latin typeface="Segoe UI"/>
              </a:rPr>
              <a:t>Docker on Render + Vercel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AA3B8"/>
                </a:solidFill>
                <a:latin typeface="Segoe UI"/>
              </a:rPr>
              <a:t>PROBLEM &amp; SOLUTION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3B8"/>
                </a:solidFill>
                <a:latin typeface="Segoe UI"/>
              </a:rPr>
              <a:t>02 / 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B981"/>
                </a:solidFill>
                <a:latin typeface="Segoe UI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CEFF3"/>
                </a:solidFill>
                <a:latin typeface="Segoe UI"/>
              </a:rPr>
              <a:t>Features &amp; Standout Innovations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9AA3B8"/>
                </a:solidFill>
                <a:latin typeface="Segoe UI"/>
              </a:rPr>
              <a:t>CORE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5212080" cy="960120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54864" cy="960120"/>
          </a:xfrm>
          <a:prstGeom prst="rect">
            <a:avLst/>
          </a:prstGeom>
          <a:solidFill>
            <a:srgbClr val="9A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84247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EFF3"/>
                </a:solidFill>
                <a:latin typeface="Segoe UI"/>
              </a:rPr>
              <a:t>Chat, Summaries &amp; Quizzes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13431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AA3B8"/>
                </a:solidFill>
                <a:latin typeface="Segoe UI"/>
              </a:rPr>
              <a:t>Ask questions with citations, generate study notes, quizzes, flashcards.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799"/>
            <a:ext cx="5212080" cy="960120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971799"/>
            <a:ext cx="54864" cy="960120"/>
          </a:xfrm>
          <a:prstGeom prst="rect">
            <a:avLst/>
          </a:prstGeom>
          <a:solidFill>
            <a:srgbClr val="9A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081527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EFF3"/>
                </a:solidFill>
                <a:latin typeface="Segoe UI"/>
              </a:rPr>
              <a:t>PDF Editor Suite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410711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AA3B8"/>
                </a:solidFill>
                <a:latin typeface="Segoe UI"/>
              </a:rPr>
              <a:t>Click-to-edit text, e-signatures, form filling, OCR, AI rewriting, PII redaction.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69079"/>
            <a:ext cx="5212080" cy="960120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069079"/>
            <a:ext cx="54864" cy="960120"/>
          </a:xfrm>
          <a:prstGeom prst="rect">
            <a:avLst/>
          </a:prstGeom>
          <a:solidFill>
            <a:srgbClr val="9A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178807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EFF3"/>
                </a:solidFill>
                <a:latin typeface="Segoe UI"/>
              </a:rPr>
              <a:t>AI Agent &amp; Automations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507991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AA3B8"/>
                </a:solidFill>
                <a:latin typeface="Segoe UI"/>
              </a:rPr>
              <a:t>Plans and executes multi-step goals; trigger-based workflows on upload.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66359"/>
            <a:ext cx="5212080" cy="960120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166359"/>
            <a:ext cx="54864" cy="960120"/>
          </a:xfrm>
          <a:prstGeom prst="rect">
            <a:avLst/>
          </a:prstGeom>
          <a:solidFill>
            <a:srgbClr val="9A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276087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CEFF3"/>
                </a:solidFill>
                <a:latin typeface="Segoe UI"/>
              </a:rPr>
              <a:t>Team Workspaces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605271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AA3B8"/>
                </a:solidFill>
                <a:latin typeface="Segoe UI"/>
              </a:rPr>
              <a:t>Shared documents, team chat, and live collaborative cursors.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0B981"/>
                </a:solidFill>
                <a:latin typeface="Segoe UI"/>
              </a:rPr>
              <a:t>STANDOUT INNOVATIONS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874519"/>
            <a:ext cx="5212080" cy="960120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1874519"/>
            <a:ext cx="54864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984247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B981"/>
                </a:solidFill>
                <a:latin typeface="Segoe UI"/>
              </a:rPr>
              <a:t>AI Audio Overview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313431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AA3B8"/>
                </a:solidFill>
                <a:latin typeface="Segoe UI"/>
              </a:rPr>
              <a:t>Two-host podcast-style discussion of any document, spoken aloud.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971799"/>
            <a:ext cx="5212080" cy="960120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2971799"/>
            <a:ext cx="54864" cy="96012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081527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82F6"/>
                </a:solidFill>
                <a:latin typeface="Segoe UI"/>
              </a:rPr>
              <a:t>Knowledge Graph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410711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AA3B8"/>
                </a:solidFill>
                <a:latin typeface="Segoe UI"/>
              </a:rPr>
              <a:t>Auto-extracted entities &amp; relationships as an interactive graph.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4069079"/>
            <a:ext cx="5212080" cy="960120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4069079"/>
            <a:ext cx="54864" cy="96012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4178807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A78BFA"/>
                </a:solidFill>
                <a:latin typeface="Segoe UI"/>
              </a:rPr>
              <a:t>Live Collaborative Cursors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507991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AA3B8"/>
                </a:solidFill>
                <a:latin typeface="Segoe UI"/>
              </a:rPr>
              <a:t>Real-time WebSocket presence on shared documents.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5166359"/>
            <a:ext cx="5212080" cy="960120"/>
          </a:xfrm>
          <a:prstGeom prst="roundRect">
            <a:avLst>
              <a:gd name="adj" fmla="val 8000"/>
            </a:avLst>
          </a:prstGeom>
          <a:solidFill>
            <a:srgbClr val="14171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5166359"/>
            <a:ext cx="54864" cy="960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5276087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9E0B"/>
                </a:solidFill>
                <a:latin typeface="Segoe UI"/>
              </a:rPr>
              <a:t>Click-to-Locate Citations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5605271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9AA3B8"/>
                </a:solidFill>
                <a:latin typeface="Segoe UI"/>
              </a:rPr>
              <a:t>Click a citation to jump to and highlight the exact source page.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AA3B8"/>
                </a:solidFill>
                <a:latin typeface="Segoe UI"/>
              </a:rPr>
              <a:t>FEATURES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3B8"/>
                </a:solidFill>
                <a:latin typeface="Segoe UI"/>
              </a:rPr>
              <a:t>03 /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0" y="914400"/>
            <a:ext cx="8229600" cy="8229600"/>
          </a:xfrm>
          <a:prstGeom prst="ellipse">
            <a:avLst/>
          </a:prstGeom>
          <a:solidFill>
            <a:srgbClr val="10B981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0B981"/>
                </a:solidFill>
                <a:latin typeface="Segoe UI"/>
              </a:rPr>
              <a:t>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CEFF3"/>
                </a:solidFill>
                <a:latin typeface="Segoe UI"/>
              </a:rPr>
              <a:t>Architecture, Live Demo &amp; Thank You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606040" cy="1188720"/>
          </a:xfrm>
          <a:prstGeom prst="roundRect">
            <a:avLst>
              <a:gd name="adj" fmla="val 10000"/>
            </a:avLst>
          </a:prstGeom>
          <a:solidFill>
            <a:srgbClr val="14171B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26060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0B981"/>
                </a:solidFill>
                <a:latin typeface="Segoe UI"/>
              </a:rPr>
              <a:t>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9AA3B8"/>
                </a:solidFill>
                <a:latin typeface="Segoe UI"/>
              </a:rPr>
              <a:t>React SPA (Vercel)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91640"/>
            <a:ext cx="2606040" cy="1188720"/>
          </a:xfrm>
          <a:prstGeom prst="roundRect">
            <a:avLst>
              <a:gd name="adj" fmla="val 10000"/>
            </a:avLst>
          </a:prstGeom>
          <a:solidFill>
            <a:srgbClr val="14171B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691640"/>
            <a:ext cx="2606040" cy="5486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1920240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B82F6"/>
                </a:solidFill>
                <a:latin typeface="Segoe UI"/>
              </a:rPr>
              <a:t>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286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9AA3B8"/>
                </a:solidFill>
                <a:latin typeface="Segoe UI"/>
              </a:rPr>
              <a:t>FastAPI REST + WebSocket (Render, Docker)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91640"/>
            <a:ext cx="2606040" cy="1188720"/>
          </a:xfrm>
          <a:prstGeom prst="roundRect">
            <a:avLst>
              <a:gd name="adj" fmla="val 10000"/>
            </a:avLst>
          </a:prstGeom>
          <a:solidFill>
            <a:srgbClr val="14171B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691640"/>
            <a:ext cx="2606040" cy="54864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78BFA"/>
                </a:solidFill>
                <a:latin typeface="Segoe UI"/>
              </a:rPr>
              <a:t>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9AA3B8"/>
                </a:solidFill>
                <a:latin typeface="Segoe UI"/>
              </a:rPr>
              <a:t>PostgreSQL + in-memory vector store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1691640"/>
            <a:ext cx="2606040" cy="1188720"/>
          </a:xfrm>
          <a:prstGeom prst="roundRect">
            <a:avLst>
              <a:gd name="adj" fmla="val 10000"/>
            </a:avLst>
          </a:prstGeom>
          <a:solidFill>
            <a:srgbClr val="14171B"/>
          </a:solidFill>
          <a:ln w="12700">
            <a:solidFill>
              <a:srgbClr val="EC48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06840" y="1691640"/>
            <a:ext cx="2606040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9720" y="1920240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C4899"/>
                </a:solidFill>
                <a:latin typeface="Segoe UI"/>
              </a:rPr>
              <a:t>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2286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9AA3B8"/>
                </a:solidFill>
                <a:latin typeface="Segoe UI"/>
              </a:rPr>
              <a:t>Google Gemini + FAISS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3375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CEFF3"/>
                </a:solidFill>
                <a:latin typeface="Segoe UI"/>
              </a:rPr>
              <a:t>Live Demo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94760"/>
            <a:ext cx="4572000" cy="502920"/>
          </a:xfrm>
          <a:prstGeom prst="roundRect">
            <a:avLst>
              <a:gd name="adj" fmla="val 50000"/>
            </a:avLst>
          </a:prstGeom>
          <a:solidFill>
            <a:srgbClr val="14171B"/>
          </a:solidFill>
          <a:ln w="12700">
            <a:solidFill>
              <a:srgbClr val="2326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94760"/>
            <a:ext cx="4572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0B981"/>
                </a:solidFill>
                <a:latin typeface="Segoe UI"/>
              </a:rPr>
              <a:t>https://documindai.online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CEFF3"/>
                </a:solidFill>
                <a:latin typeface="Segoe UI"/>
              </a:rPr>
              <a:t>Thank You — Questions &amp; 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4406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B981"/>
                </a:solidFill>
                <a:latin typeface="Segoe UI"/>
              </a:rPr>
              <a:t>LIVE APPLICATION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54406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CEFF3"/>
                </a:solidFill>
                <a:latin typeface="Segoe UI"/>
              </a:rPr>
              <a:t>https://documindai.online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064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0B981"/>
                </a:solidFill>
                <a:latin typeface="Segoe UI"/>
              </a:rPr>
              <a:t>SOURCE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58064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CEFF3"/>
                </a:solidFill>
                <a:latin typeface="Segoe UI"/>
              </a:rPr>
              <a:t>https://github.com/Abdullah001butt/rag-pdf-chatbot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AA3B8"/>
                </a:solidFill>
                <a:latin typeface="Segoe UI"/>
              </a:rPr>
              <a:t>DOCUMIND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AA3B8"/>
                </a:solidFill>
                <a:latin typeface="Segoe UI"/>
              </a:rPr>
              <a:t>DEMO &amp; THANK YOU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A3B8"/>
                </a:solidFill>
                <a:latin typeface="Segoe UI"/>
              </a:rPr>
              <a:t>04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