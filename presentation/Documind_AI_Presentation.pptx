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10B981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5029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ECEFF3"/>
                </a:solidFill>
                <a:latin typeface="Segoe UI"/>
              </a:rPr>
              <a:t>Documind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AA3B8"/>
                </a:solidFill>
                <a:latin typeface="Segoe UI"/>
              </a:rPr>
              <a:t>Enterprise AI Platform for Chatting, Editing, and Collaborating on PDF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94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14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CEFF3"/>
                </a:solidFill>
                <a:latin typeface="Segoe UI"/>
              </a:rPr>
              <a:t>Muhammad Abdullah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4114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CEFF3"/>
                </a:solidFill>
                <a:latin typeface="Segoe UI"/>
              </a:rPr>
              <a:t>Raja Ali Haider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805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CEFF3"/>
                </a:solidFill>
                <a:latin typeface="Segoe UI"/>
              </a:rPr>
              <a:t>Muhammad Saad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4805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CEFF3"/>
                </a:solidFill>
                <a:latin typeface="Segoe UI"/>
              </a:rPr>
              <a:t>Sathyaa Narayan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60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Segoe UI"/>
              </a:rPr>
              <a:t>Your University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35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3B8"/>
                </a:solidFill>
                <a:latin typeface="Segoe UI"/>
              </a:rPr>
              <a:t>Department of Computer Science  |  Supervisor: Dr. [Supervisor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0350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CEFF3"/>
                </a:solidFill>
                <a:latin typeface="Segoe UI"/>
              </a:rPr>
              <a:t>The Problem &amp;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A3B8"/>
                </a:solidFill>
                <a:latin typeface="Segoe U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39112"/>
            <a:ext cx="109728" cy="109728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3B8"/>
                </a:solidFill>
                <a:latin typeface="Segoe UI"/>
              </a:rPr>
              <a:t>Long PDFs take hours to read, cross-reference, and act on manually.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16352"/>
            <a:ext cx="109728" cy="109728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3B8"/>
                </a:solidFill>
                <a:latin typeface="Segoe UI"/>
              </a:rPr>
              <a:t>Summarizing, editing, e-signing, and quizzing each need separate, disconnected apps.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93592"/>
            <a:ext cx="109728" cy="109728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3B8"/>
                </a:solidFill>
                <a:latin typeface="Segoe UI"/>
              </a:rPr>
              <a:t>No shared, live workspace for teams to actually collaborate on a document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70832"/>
            <a:ext cx="109728" cy="109728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AA3B8"/>
                </a:solidFill>
                <a:latin typeface="Segoe UI"/>
              </a:rPr>
              <a:t>Generic AI chat gives answers with no way to verify they're grounded in the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Segoe UI"/>
              </a:rPr>
              <a:t>OUR 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03911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CEFF3"/>
                </a:solidFill>
                <a:latin typeface="Segoe UI"/>
              </a:rPr>
              <a:t>One platform to chat, summarize, quiz, edit, sign, redact, and collaborate on any PDF.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5351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88036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CEFF3"/>
                </a:solidFill>
                <a:latin typeface="Segoe UI"/>
              </a:rPr>
              <a:t>Every AI answer is cited and clickable — jump straight to the exact source 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6791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9476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CEFF3"/>
                </a:solidFill>
                <a:latin typeface="Segoe UI"/>
              </a:rPr>
              <a:t>Live team workspaces, an AI agent, automations, and a public developer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AA3B8"/>
                </a:solidFill>
                <a:latin typeface="Segoe UI"/>
              </a:rPr>
              <a:t>BUILT WITH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2432304" cy="36576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243230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FF3"/>
                </a:solidFill>
                <a:latin typeface="Segoe UI"/>
              </a:rPr>
              <a:t>React 19 + TypeScript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9544" y="54406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9544" y="5440680"/>
            <a:ext cx="2331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FF3"/>
                </a:solidFill>
                <a:latin typeface="Segoe UI"/>
              </a:rPr>
              <a:t>FastAPI + WebSockets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8424" y="54406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78424" y="544068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FF3"/>
                </a:solidFill>
                <a:latin typeface="Segoe UI"/>
              </a:rPr>
              <a:t>Google Gemini + LangChain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50224" y="5440680"/>
            <a:ext cx="2231136" cy="36576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0224" y="5440680"/>
            <a:ext cx="22311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FF3"/>
                </a:solidFill>
                <a:latin typeface="Segoe UI"/>
              </a:rPr>
              <a:t>FAISS Vector 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9788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FF3"/>
                </a:solidFill>
                <a:latin typeface="Segoe UI"/>
              </a:rPr>
              <a:t>PostgreSQL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20" y="589788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5897880"/>
            <a:ext cx="17282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FF3"/>
                </a:solidFill>
                <a:latin typeface="Segoe UI"/>
              </a:rPr>
              <a:t>Stripe Billing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68496" y="58978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68496" y="5897880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FF3"/>
                </a:solidFill>
                <a:latin typeface="Segoe UI"/>
              </a:rPr>
              <a:t>Docker on Render + Vercel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8"/>
                </a:solidFill>
                <a:latin typeface="Segoe UI"/>
              </a:rPr>
              <a:t>DOCUMIND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AA3B8"/>
                </a:solidFill>
                <a:latin typeface="Segoe UI"/>
              </a:rPr>
              <a:t>PROBLEM &amp; 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B8"/>
                </a:solidFill>
                <a:latin typeface="Segoe UI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CEFF3"/>
                </a:solidFill>
                <a:latin typeface="Segoe UI"/>
              </a:rPr>
              <a:t>Features &amp; Standout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AA3B8"/>
                </a:solidFill>
                <a:latin typeface="Segoe UI"/>
              </a:rPr>
              <a:t>CORE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4864" cy="960120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EFF3"/>
                </a:solidFill>
                <a:latin typeface="Segoe UI"/>
              </a:rPr>
              <a:t>Chat, Summaries &amp; Quizzes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1343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Ask questions with citations, generate study notes, quizzes, flashcards.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79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799"/>
            <a:ext cx="54864" cy="960120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EFF3"/>
                </a:solidFill>
                <a:latin typeface="Segoe UI"/>
              </a:rPr>
              <a:t>PDF Editor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Click-to-edit text, e-signatures, form filling, OCR, AI rewriting, PII redaction.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7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69079"/>
            <a:ext cx="54864" cy="960120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7880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EFF3"/>
                </a:solidFill>
                <a:latin typeface="Segoe UI"/>
              </a:rPr>
              <a:t>AI Agent &amp; Automations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Plans and executes multi-step goals; trigger-based workflows on upload.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5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166359"/>
            <a:ext cx="54864" cy="960120"/>
          </a:xfrm>
          <a:prstGeom prst="rect">
            <a:avLst/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7608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EFF3"/>
                </a:solidFill>
                <a:latin typeface="Segoe UI"/>
              </a:rPr>
              <a:t>Team Workspaces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0527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Shared documents, team chat, and live collaborative cursors.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B981"/>
                </a:solidFill>
                <a:latin typeface="Segoe UI"/>
              </a:rPr>
              <a:t>STANDOUT INNOVATIONS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87451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874519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98424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AI Audio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31343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Two-host podcast-style discussion of any document, spoken aloud.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97179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971799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08152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82F6"/>
                </a:solidFill>
                <a:latin typeface="Segoe UI"/>
              </a:rPr>
              <a:t>Knowledge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1071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Auto-extracted entities &amp; relationships as an interactive graph.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06907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069079"/>
            <a:ext cx="54864" cy="960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17880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78BFA"/>
                </a:solidFill>
                <a:latin typeface="Segoe UI"/>
              </a:rPr>
              <a:t>Live Collaborative Cursors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5079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Real-time WebSocket presence on shared documents.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166359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14171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5166359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276087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Segoe UI"/>
              </a:rPr>
              <a:t>Click-to-Locate Citations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60527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AA3B8"/>
                </a:solidFill>
                <a:latin typeface="Segoe UI"/>
              </a:rPr>
              <a:t>Click a citation to jump to and highlight the exact source page.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8"/>
                </a:solidFill>
                <a:latin typeface="Segoe UI"/>
              </a:rPr>
              <a:t>DOCUMIND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AA3B8"/>
                </a:solidFill>
                <a:latin typeface="Segoe UI"/>
              </a:rPr>
              <a:t>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B8"/>
                </a:solidFill>
                <a:latin typeface="Segoe UI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914400"/>
            <a:ext cx="8229600" cy="8229600"/>
          </a:xfrm>
          <a:prstGeom prst="ellipse">
            <a:avLst/>
          </a:prstGeom>
          <a:solidFill>
            <a:srgbClr val="10B981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Segoe U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CEFF3"/>
                </a:solidFill>
                <a:latin typeface="Segoe UI"/>
              </a:rPr>
              <a:t>Architecture, Live Demo &amp; 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4171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AA3B8"/>
                </a:solidFill>
                <a:latin typeface="Segoe UI"/>
              </a:rPr>
              <a:t>React SPA (Vercel)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4171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69164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AA3B8"/>
                </a:solidFill>
                <a:latin typeface="Segoe UI"/>
              </a:rPr>
              <a:t>FastAPI REST + WebSocket (Render, Docker)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4171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2606040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A78BFA"/>
                </a:solidFill>
                <a:latin typeface="Segoe UI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AA3B8"/>
                </a:solidFill>
                <a:latin typeface="Segoe UI"/>
              </a:rPr>
              <a:t>PostgreSQL + in-memory vector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9164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14171B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691640"/>
            <a:ext cx="260604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2024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C4899"/>
                </a:solidFill>
                <a:latin typeface="Segoe UI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286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AA3B8"/>
                </a:solidFill>
                <a:latin typeface="Segoe UI"/>
              </a:rPr>
              <a:t>Google Gemini + FAISS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75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CEFF3"/>
                </a:solidFill>
                <a:latin typeface="Segoe UI"/>
              </a:rPr>
              <a:t>Live Demo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94760"/>
            <a:ext cx="4572000" cy="502920"/>
          </a:xfrm>
          <a:prstGeom prst="roundRect">
            <a:avLst>
              <a:gd name="adj" fmla="val 50000"/>
            </a:avLst>
          </a:prstGeom>
          <a:solidFill>
            <a:srgbClr val="14171B"/>
          </a:solidFill>
          <a:ln w="12700">
            <a:solidFill>
              <a:srgbClr val="2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9476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https://documindai.online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CEFF3"/>
                </a:solidFill>
                <a:latin typeface="Segoe UI"/>
              </a:rPr>
              <a:t>Thank You — Questions &amp;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LIVE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440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CEFF3"/>
                </a:solidFill>
                <a:latin typeface="Segoe UI"/>
              </a:rPr>
              <a:t>https://documindai.online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Segoe UI"/>
              </a:rPr>
              <a:t>SOURCE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806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CEFF3"/>
                </a:solidFill>
                <a:latin typeface="Segoe UI"/>
              </a:rPr>
              <a:t>https://github.com/Abdullah001butt/rag-pdf-chatbot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9AA3B8"/>
                </a:solidFill>
                <a:latin typeface="Segoe UI"/>
              </a:rPr>
              <a:t>DOCUMIND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AA3B8"/>
                </a:solidFill>
                <a:latin typeface="Segoe UI"/>
              </a:rPr>
              <a:t>DEMO &amp; 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3B8"/>
                </a:solidFill>
                <a:latin typeface="Segoe UI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