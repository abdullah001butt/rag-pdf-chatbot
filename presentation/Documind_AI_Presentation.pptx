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1828800"/>
            <a:ext cx="8229600" cy="8229600"/>
          </a:xfrm>
          <a:prstGeom prst="ellipse">
            <a:avLst/>
          </a:prstGeom>
          <a:solidFill>
            <a:srgbClr val="10B981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3657600"/>
            <a:ext cx="6400800" cy="6400800"/>
          </a:xfrm>
          <a:prstGeom prst="ellipse">
            <a:avLst/>
          </a:prstGeom>
          <a:solidFill>
            <a:srgbClr val="3B82F6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2331720"/>
            <a:ext cx="502920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 i="0">
                <a:solidFill>
                  <a:srgbClr val="ECEFF3"/>
                </a:solidFill>
                <a:latin typeface="Segoe UI"/>
              </a:rPr>
              <a:t>Documind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3832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9AA3B8"/>
                </a:solidFill>
                <a:latin typeface="Segoe UI"/>
              </a:rPr>
              <a:t>Enterprise AI Platform for Chatting, Editing, and Collaborating on PDF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CEFF3"/>
                </a:solidFill>
                <a:latin typeface="Segoe UI"/>
              </a:rPr>
              <a:t>Abdullah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4864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A3B8"/>
                </a:solidFill>
                <a:latin typeface="Segoe UI"/>
              </a:rPr>
              <a:t>Your University 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607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A3B8"/>
                </a:solidFill>
                <a:latin typeface="Segoe UI"/>
              </a:rPr>
              <a:t>Department of Computer Science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035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A3B8"/>
                </a:solidFill>
                <a:latin typeface="Segoe UI"/>
              </a:rPr>
              <a:t>Supervisor: Dr. [Supervisor Name]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03504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10B981"/>
                </a:solidFill>
                <a:latin typeface="Segoe U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0B981"/>
                </a:solidFill>
                <a:latin typeface="Segoe U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CEFF3"/>
                </a:solidFill>
                <a:latin typeface="Segoe UI"/>
              </a:rPr>
              <a:t>Agenda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457200" cy="365760"/>
          </a:xfrm>
          <a:prstGeom prst="roundRect">
            <a:avLst>
              <a:gd name="adj" fmla="val 50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47672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0B981"/>
                </a:solidFill>
                <a:latin typeface="Segoe U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9476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CEFF3"/>
                </a:solidFill>
                <a:latin typeface="Segoe UI"/>
              </a:rPr>
              <a:t>Problem Statement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457200" cy="365760"/>
          </a:xfrm>
          <a:prstGeom prst="roundRect">
            <a:avLst>
              <a:gd name="adj" fmla="val 50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50592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0B981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45059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CEFF3"/>
                </a:solidFill>
                <a:latin typeface="Segoe UI"/>
              </a:rPr>
              <a:t>Solution Overview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26080"/>
            <a:ext cx="457200" cy="365760"/>
          </a:xfrm>
          <a:prstGeom prst="roundRect">
            <a:avLst>
              <a:gd name="adj" fmla="val 50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53512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0B981"/>
                </a:solidFill>
                <a:latin typeface="Segoe U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95351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CEFF3"/>
                </a:solidFill>
                <a:latin typeface="Segoe UI"/>
              </a:rPr>
              <a:t>Technology Stack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29000"/>
            <a:ext cx="457200" cy="365760"/>
          </a:xfrm>
          <a:prstGeom prst="roundRect">
            <a:avLst>
              <a:gd name="adj" fmla="val 50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56432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0B981"/>
                </a:solidFill>
                <a:latin typeface="Segoe U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45643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CEFF3"/>
                </a:solidFill>
                <a:latin typeface="Segoe UI"/>
              </a:rPr>
              <a:t>System 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31920"/>
            <a:ext cx="457200" cy="365760"/>
          </a:xfrm>
          <a:prstGeom prst="roundRect">
            <a:avLst>
              <a:gd name="adj" fmla="val 50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59352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0B981"/>
                </a:solidFill>
                <a:latin typeface="Segoe U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95935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CEFF3"/>
                </a:solidFill>
                <a:latin typeface="Segoe UI"/>
              </a:rPr>
              <a:t>Core Features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434840"/>
            <a:ext cx="457200" cy="365760"/>
          </a:xfrm>
          <a:prstGeom prst="roundRect">
            <a:avLst>
              <a:gd name="adj" fmla="val 50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462272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0B981"/>
                </a:solidFill>
                <a:latin typeface="Segoe U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4622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CEFF3"/>
                </a:solidFill>
                <a:latin typeface="Segoe UI"/>
              </a:rPr>
              <a:t>Standout Innovations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937760"/>
            <a:ext cx="457200" cy="365760"/>
          </a:xfrm>
          <a:prstGeom prst="roundRect">
            <a:avLst>
              <a:gd name="adj" fmla="val 50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965192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0B981"/>
                </a:solidFill>
                <a:latin typeface="Segoe UI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96519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CEFF3"/>
                </a:solidFill>
                <a:latin typeface="Segoe UI"/>
              </a:rPr>
              <a:t>Security, Privacy &amp; Billing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40680"/>
            <a:ext cx="457200" cy="365760"/>
          </a:xfrm>
          <a:prstGeom prst="roundRect">
            <a:avLst>
              <a:gd name="adj" fmla="val 50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468112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0B981"/>
                </a:solidFill>
                <a:latin typeface="Segoe UI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546811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CEFF3"/>
                </a:solidFill>
                <a:latin typeface="Segoe UI"/>
              </a:rPr>
              <a:t>Challenges &amp; Key Learnings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943600"/>
            <a:ext cx="457200" cy="365760"/>
          </a:xfrm>
          <a:prstGeom prst="roundRect">
            <a:avLst>
              <a:gd name="adj" fmla="val 50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971032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0B981"/>
                </a:solidFill>
                <a:latin typeface="Segoe UI"/>
              </a:rP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597103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CEFF3"/>
                </a:solidFill>
                <a:latin typeface="Segoe UI"/>
              </a:rPr>
              <a:t>Live Demo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A3B8"/>
                </a:solidFill>
                <a:latin typeface="Segoe UI"/>
              </a:rPr>
              <a:t>DOCUMIND 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3B8"/>
                </a:solidFill>
                <a:latin typeface="Segoe UI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0B981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CEFF3"/>
                </a:solidFill>
                <a:latin typeface="Segoe UI"/>
              </a:rPr>
              <a:t>Working with PDFs is Still Slow and Fragmented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57400"/>
            <a:ext cx="5074920" cy="1828800"/>
          </a:xfrm>
          <a:prstGeom prst="roundRect">
            <a:avLst>
              <a:gd name="adj" fmla="val 6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057400"/>
            <a:ext cx="54864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CEFF3"/>
                </a:solidFill>
                <a:latin typeface="Segoe UI"/>
              </a:rPr>
              <a:t>Information overload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4434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9AA3B8"/>
                </a:solidFill>
                <a:latin typeface="Segoe UI"/>
              </a:rPr>
              <a:t>Long PDFs (contracts, papers, reports) take hours to read and cross-reference manually.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2057400"/>
            <a:ext cx="5074920" cy="1828800"/>
          </a:xfrm>
          <a:prstGeom prst="roundRect">
            <a:avLst>
              <a:gd name="adj" fmla="val 6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80760" y="2057400"/>
            <a:ext cx="54864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286000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CEFF3"/>
                </a:solidFill>
                <a:latin typeface="Segoe UI"/>
              </a:rPr>
              <a:t>Scattered tooling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743200"/>
            <a:ext cx="4434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9AA3B8"/>
                </a:solidFill>
                <a:latin typeface="Segoe UI"/>
              </a:rPr>
              <a:t>Summarizing, editing, e-signing, and quizzing on a document each require separate, disconnected apps.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06240"/>
            <a:ext cx="5074920" cy="1828800"/>
          </a:xfrm>
          <a:prstGeom prst="roundRect">
            <a:avLst>
              <a:gd name="adj" fmla="val 6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206240"/>
            <a:ext cx="54864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434840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CEFF3"/>
                </a:solidFill>
                <a:latin typeface="Segoe UI"/>
              </a:rPr>
              <a:t>No real collaboration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892040"/>
            <a:ext cx="4434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9AA3B8"/>
                </a:solidFill>
                <a:latin typeface="Segoe UI"/>
              </a:rPr>
              <a:t>Teams email PDFs back and forth with no shared, live workspace to discuss them together.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4206240"/>
            <a:ext cx="5074920" cy="1828800"/>
          </a:xfrm>
          <a:prstGeom prst="roundRect">
            <a:avLst>
              <a:gd name="adj" fmla="val 6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206240"/>
            <a:ext cx="54864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434840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CEFF3"/>
                </a:solidFill>
                <a:latin typeface="Segoe UI"/>
              </a:rPr>
              <a:t>Trust gap in AI answers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892040"/>
            <a:ext cx="4434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9AA3B8"/>
                </a:solidFill>
                <a:latin typeface="Segoe UI"/>
              </a:rPr>
              <a:t>Generic AI chatbots give answers with no way to verify they're actually grounded in the source.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A3B8"/>
                </a:solidFill>
                <a:latin typeface="Segoe UI"/>
              </a:rPr>
              <a:t>DOCUMIND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9AA3B8"/>
                </a:solidFill>
                <a:latin typeface="Segoe UI"/>
              </a:rPr>
              <a:t>PROBLEM STATEMENT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3B8"/>
                </a:solidFill>
                <a:latin typeface="Segoe UI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0B981"/>
                </a:solidFill>
                <a:latin typeface="Segoe U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CEFF3"/>
                </a:solidFill>
                <a:latin typeface="Segoe UI"/>
              </a:rPr>
              <a:t>Documind AI: One Platform, Every Document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031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0B0D0F"/>
                </a:solidFill>
                <a:latin typeface="Segoe UI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075688"/>
            <a:ext cx="9875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ECEFF3"/>
                </a:solidFill>
                <a:latin typeface="Segoe UI"/>
              </a:rPr>
              <a:t>One platform to chat, summarize, quiz, edit, sign, redact, and collaborate on any PDF.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260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0B0D0F"/>
                </a:solidFill>
                <a:latin typeface="Segoe U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898648"/>
            <a:ext cx="9875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ECEFF3"/>
                </a:solidFill>
                <a:latin typeface="Segoe UI"/>
              </a:rPr>
              <a:t>Every AI answer is grounded with citations you can click to jump straight to the source page.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490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490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0B0D0F"/>
                </a:solidFill>
                <a:latin typeface="Segoe U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21608"/>
            <a:ext cx="9875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ECEFF3"/>
                </a:solidFill>
                <a:latin typeface="Segoe UI"/>
              </a:rPr>
              <a:t>Built-in team workspaces with live collaboration, not just file sharing.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720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0B0D0F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44568"/>
            <a:ext cx="9875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ECEFF3"/>
                </a:solidFill>
                <a:latin typeface="Segoe UI"/>
              </a:rPr>
              <a:t>A public API so the same AI capabilities can be scripted and integrated elsewhere.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A3B8"/>
                </a:solidFill>
                <a:latin typeface="Segoe UI"/>
              </a:rPr>
              <a:t>DOCUMIND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9AA3B8"/>
                </a:solidFill>
                <a:latin typeface="Segoe UI"/>
              </a:rPr>
              <a:t>SOLUTION OVERVIEW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3B8"/>
                </a:solidFill>
                <a:latin typeface="Segoe UI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0B981"/>
                </a:solidFill>
                <a:latin typeface="Segoe UI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CEFF3"/>
                </a:solidFill>
                <a:latin typeface="Segoe UI"/>
              </a:rPr>
              <a:t>Technology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5074920" cy="960120"/>
          </a:xfrm>
          <a:prstGeom prst="roundRect">
            <a:avLst>
              <a:gd name="adj" fmla="val 12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75688"/>
            <a:ext cx="4526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0B981"/>
                </a:solidFill>
                <a:latin typeface="Segoe UI"/>
              </a:rPr>
              <a:t>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CEFF3"/>
                </a:solidFill>
                <a:latin typeface="Segoe UI"/>
              </a:rPr>
              <a:t>React 19, TypeScript, Vite, Tailwind CSS v4, Framer Motion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965960"/>
            <a:ext cx="5074920" cy="960120"/>
          </a:xfrm>
          <a:prstGeom prst="roundRect">
            <a:avLst>
              <a:gd name="adj" fmla="val 12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075688"/>
            <a:ext cx="4526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0B981"/>
                </a:solidFill>
                <a:latin typeface="Segoe UI"/>
              </a:rPr>
              <a:t>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377440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CEFF3"/>
                </a:solidFill>
                <a:latin typeface="Segoe UI"/>
              </a:rPr>
              <a:t>FastAPI (Python), SQLAlchemy, WebSockets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27248"/>
            <a:ext cx="5074920" cy="960120"/>
          </a:xfrm>
          <a:prstGeom prst="roundRect">
            <a:avLst>
              <a:gd name="adj" fmla="val 12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36976"/>
            <a:ext cx="4526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0B981"/>
                </a:solidFill>
                <a:latin typeface="Segoe UI"/>
              </a:rPr>
              <a:t>AI / 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38728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CEFF3"/>
                </a:solidFill>
                <a:latin typeface="Segoe UI"/>
              </a:rPr>
              <a:t>Google Gemini (gemini-3.5-flash), LangChain, FAISS vector search, gemini-embedding-2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3127248"/>
            <a:ext cx="5074920" cy="960120"/>
          </a:xfrm>
          <a:prstGeom prst="roundRect">
            <a:avLst>
              <a:gd name="adj" fmla="val 12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236976"/>
            <a:ext cx="4526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0B981"/>
                </a:solidFill>
                <a:latin typeface="Segoe UI"/>
              </a:rPr>
              <a:t>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538728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CEFF3"/>
                </a:solidFill>
                <a:latin typeface="Segoe UI"/>
              </a:rPr>
              <a:t>PostgreSQL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88536"/>
            <a:ext cx="5074920" cy="960120"/>
          </a:xfrm>
          <a:prstGeom prst="roundRect">
            <a:avLst>
              <a:gd name="adj" fmla="val 12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398264"/>
            <a:ext cx="4526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0B981"/>
                </a:solidFill>
                <a:latin typeface="Segoe UI"/>
              </a:rPr>
              <a:t>BILLING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00016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CEFF3"/>
                </a:solidFill>
                <a:latin typeface="Segoe UI"/>
              </a:rPr>
              <a:t>Stripe subscriptions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0760" y="4288536"/>
            <a:ext cx="5074920" cy="960120"/>
          </a:xfrm>
          <a:prstGeom prst="roundRect">
            <a:avLst>
              <a:gd name="adj" fmla="val 12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398264"/>
            <a:ext cx="4526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0B981"/>
                </a:solidFill>
                <a:latin typeface="Segoe UI"/>
              </a:rPr>
              <a:t>EMAIL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700016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CEFF3"/>
                </a:solidFill>
                <a:latin typeface="Segoe UI"/>
              </a:rPr>
              <a:t>Resend (transactional email)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449824"/>
            <a:ext cx="5074920" cy="960120"/>
          </a:xfrm>
          <a:prstGeom prst="roundRect">
            <a:avLst>
              <a:gd name="adj" fmla="val 12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559552"/>
            <a:ext cx="4526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0B981"/>
                </a:solidFill>
                <a:latin typeface="Segoe UI"/>
              </a:rPr>
              <a:t>PDF ENGINE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861304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CEFF3"/>
                </a:solidFill>
                <a:latin typeface="Segoe UI"/>
              </a:rPr>
              <a:t>pdf-lib, pdfjs-dist (client-side rendering &amp; editing)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80760" y="5449824"/>
            <a:ext cx="5074920" cy="960120"/>
          </a:xfrm>
          <a:prstGeom prst="roundRect">
            <a:avLst>
              <a:gd name="adj" fmla="val 12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5559552"/>
            <a:ext cx="4526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0B981"/>
                </a:solidFill>
                <a:latin typeface="Segoe UI"/>
              </a:rPr>
              <a:t>DEPLOYMENT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5861304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CEFF3"/>
                </a:solidFill>
                <a:latin typeface="Segoe UI"/>
              </a:rPr>
              <a:t>Render (backend, Docker) + Vercel (frontend)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A3B8"/>
                </a:solidFill>
                <a:latin typeface="Segoe UI"/>
              </a:rPr>
              <a:t>DOCUMIND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9AA3B8"/>
                </a:solidFill>
                <a:latin typeface="Segoe UI"/>
              </a:rPr>
              <a:t>TECHNOLOGY STACK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3B8"/>
                </a:solidFill>
                <a:latin typeface="Segoe UI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0B981"/>
                </a:solidFill>
                <a:latin typeface="Segoe UI"/>
              </a:rPr>
              <a:t>SYSTEM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CEFF3"/>
                </a:solidFill>
                <a:latin typeface="Segoe UI"/>
              </a:rPr>
              <a:t>System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11680"/>
            <a:ext cx="10515600" cy="777240"/>
          </a:xfrm>
          <a:prstGeom prst="roundRect">
            <a:avLst>
              <a:gd name="adj" fmla="val 10000"/>
            </a:avLst>
          </a:prstGeom>
          <a:solidFill>
            <a:srgbClr val="14171B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73152" cy="7772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121408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0B981"/>
                </a:solidFill>
                <a:latin typeface="Segoe UI"/>
              </a:rPr>
              <a:t>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121408"/>
            <a:ext cx="7680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A3B8"/>
                </a:solidFill>
                <a:latin typeface="Segoe UI"/>
              </a:rPr>
              <a:t>React SPA — Dashboard, Landing Page, Auth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26080"/>
            <a:ext cx="10515600" cy="777240"/>
          </a:xfrm>
          <a:prstGeom prst="roundRect">
            <a:avLst>
              <a:gd name="adj" fmla="val 10000"/>
            </a:avLst>
          </a:prstGeom>
          <a:solidFill>
            <a:srgbClr val="14171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926080"/>
            <a:ext cx="73152" cy="77724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035808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B82F6"/>
                </a:solidFill>
                <a:latin typeface="Segoe UI"/>
              </a:rPr>
              <a:t>API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035808"/>
            <a:ext cx="7680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A3B8"/>
                </a:solidFill>
                <a:latin typeface="Segoe UI"/>
              </a:rPr>
              <a:t>FastAPI REST + WebSocket endpoints, JWT auth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840480"/>
            <a:ext cx="10515600" cy="777240"/>
          </a:xfrm>
          <a:prstGeom prst="roundRect">
            <a:avLst>
              <a:gd name="adj" fmla="val 10000"/>
            </a:avLst>
          </a:prstGeom>
          <a:solidFill>
            <a:srgbClr val="14171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3840480"/>
            <a:ext cx="73152" cy="777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950208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59E0B"/>
                </a:solidFill>
                <a:latin typeface="Segoe UI"/>
              </a:rPr>
              <a:t>Service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950208"/>
            <a:ext cx="7680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A3B8"/>
                </a:solidFill>
                <a:latin typeface="Segoe UI"/>
              </a:rPr>
              <a:t>RAG pipeline, billing, usage quotas, automations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54880"/>
            <a:ext cx="10515600" cy="777240"/>
          </a:xfrm>
          <a:prstGeom prst="roundRect">
            <a:avLst>
              <a:gd name="adj" fmla="val 10000"/>
            </a:avLst>
          </a:prstGeom>
          <a:solidFill>
            <a:srgbClr val="14171B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754880"/>
            <a:ext cx="73152" cy="77724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864608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78BFA"/>
                </a:solidFill>
                <a:latin typeface="Segoe UI"/>
              </a:rPr>
              <a:t>Data Layer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864608"/>
            <a:ext cx="7680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A3B8"/>
                </a:solidFill>
                <a:latin typeface="Segoe UI"/>
              </a:rPr>
              <a:t>PostgreSQL (users, billing, workspaces) + in-memory per-user document store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669280"/>
            <a:ext cx="10515600" cy="777240"/>
          </a:xfrm>
          <a:prstGeom prst="roundRect">
            <a:avLst>
              <a:gd name="adj" fmla="val 10000"/>
            </a:avLst>
          </a:prstGeom>
          <a:solidFill>
            <a:srgbClr val="14171B"/>
          </a:solidFill>
          <a:ln w="1270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5669280"/>
            <a:ext cx="73152" cy="77724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779008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C4899"/>
                </a:solidFill>
                <a:latin typeface="Segoe UI"/>
              </a:rPr>
              <a:t>External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5779008"/>
            <a:ext cx="7680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AA3B8"/>
                </a:solidFill>
                <a:latin typeface="Segoe UI"/>
              </a:rPr>
              <a:t>Google Gemini API, Stripe, Resend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A3B8"/>
                </a:solidFill>
                <a:latin typeface="Segoe UI"/>
              </a:rPr>
              <a:t>DOCUMIND 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9AA3B8"/>
                </a:solidFill>
                <a:latin typeface="Segoe UI"/>
              </a:rPr>
              <a:t>SYSTEM ARCHITECTURE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3B8"/>
                </a:solidFill>
                <a:latin typeface="Segoe UI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0B981"/>
                </a:solidFill>
                <a:latin typeface="Segoe UI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CEFF3"/>
                </a:solidFill>
                <a:latin typeface="Segoe UI"/>
              </a:rPr>
              <a:t>Core Features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3337560" cy="1417320"/>
          </a:xfrm>
          <a:prstGeom prst="roundRect">
            <a:avLst>
              <a:gd name="adj" fmla="val 7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39111"/>
            <a:ext cx="2880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CEFF3"/>
                </a:solidFill>
                <a:latin typeface="Segoe UI"/>
              </a:rPr>
              <a:t>Chat with Citations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77439"/>
            <a:ext cx="2880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AA3B8"/>
                </a:solidFill>
                <a:latin typeface="Segoe UI"/>
              </a:rPr>
              <a:t>Ask questions across multiple PDFs with clickable, page-accurate citations.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874519"/>
            <a:ext cx="3337560" cy="1417320"/>
          </a:xfrm>
          <a:prstGeom prst="roundRect">
            <a:avLst>
              <a:gd name="adj" fmla="val 7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2039111"/>
            <a:ext cx="2880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CEFF3"/>
                </a:solidFill>
                <a:latin typeface="Segoe UI"/>
              </a:rPr>
              <a:t>Summaries &amp; Study Notes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377439"/>
            <a:ext cx="2880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AA3B8"/>
                </a:solidFill>
                <a:latin typeface="Segoe UI"/>
              </a:rPr>
              <a:t>One-click structured summaries and exam-ready study notes.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1874519"/>
            <a:ext cx="3337560" cy="1417320"/>
          </a:xfrm>
          <a:prstGeom prst="roundRect">
            <a:avLst>
              <a:gd name="adj" fmla="val 7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039111"/>
            <a:ext cx="2880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CEFF3"/>
                </a:solidFill>
                <a:latin typeface="Segoe UI"/>
              </a:rPr>
              <a:t>Quiz &amp; Flashcards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377439"/>
            <a:ext cx="2880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AA3B8"/>
                </a:solidFill>
                <a:latin typeface="Segoe UI"/>
              </a:rPr>
              <a:t>Auto-generated multiple-choice quizzes and flashcards from any document.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520439"/>
            <a:ext cx="3337560" cy="1417320"/>
          </a:xfrm>
          <a:prstGeom prst="roundRect">
            <a:avLst>
              <a:gd name="adj" fmla="val 7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685031"/>
            <a:ext cx="2880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CEFF3"/>
                </a:solidFill>
                <a:latin typeface="Segoe UI"/>
              </a:rPr>
              <a:t>Document Compare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023359"/>
            <a:ext cx="2880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AA3B8"/>
                </a:solidFill>
                <a:latin typeface="Segoe UI"/>
              </a:rPr>
              <a:t>Side-by-side AI comparison of two documents' similarities and differences.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3520439"/>
            <a:ext cx="3337560" cy="1417320"/>
          </a:xfrm>
          <a:prstGeom prst="roundRect">
            <a:avLst>
              <a:gd name="adj" fmla="val 7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3685031"/>
            <a:ext cx="2880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CEFF3"/>
                </a:solidFill>
                <a:latin typeface="Segoe UI"/>
              </a:rPr>
              <a:t>Research Assistant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4023359"/>
            <a:ext cx="2880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AA3B8"/>
                </a:solidFill>
                <a:latin typeface="Segoe UI"/>
              </a:rPr>
              <a:t>Decomposes a topic into sub-questions and synthesizes a cited research report.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3520439"/>
            <a:ext cx="3337560" cy="1417320"/>
          </a:xfrm>
          <a:prstGeom prst="roundRect">
            <a:avLst>
              <a:gd name="adj" fmla="val 7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2440" y="3685031"/>
            <a:ext cx="2880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CEFF3"/>
                </a:solidFill>
                <a:latin typeface="Segoe UI"/>
              </a:rPr>
              <a:t>PDF Editor Suite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4023359"/>
            <a:ext cx="2880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AA3B8"/>
                </a:solidFill>
                <a:latin typeface="Segoe UI"/>
              </a:rPr>
              <a:t>Click-to-edit text, e-signatures, form filling, OCR, AI rewriting, PII auto-redaction.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166359"/>
            <a:ext cx="3337560" cy="1417320"/>
          </a:xfrm>
          <a:prstGeom prst="roundRect">
            <a:avLst>
              <a:gd name="adj" fmla="val 7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30951"/>
            <a:ext cx="2880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CEFF3"/>
                </a:solidFill>
                <a:latin typeface="Segoe UI"/>
              </a:rPr>
              <a:t>Batch Processing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669279"/>
            <a:ext cx="2880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AA3B8"/>
                </a:solidFill>
                <a:latin typeface="Segoe UI"/>
              </a:rPr>
              <a:t>Run one action across many documents at once.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51960" y="5166359"/>
            <a:ext cx="3337560" cy="1417320"/>
          </a:xfrm>
          <a:prstGeom prst="roundRect">
            <a:avLst>
              <a:gd name="adj" fmla="val 7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5330951"/>
            <a:ext cx="2880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CEFF3"/>
                </a:solidFill>
                <a:latin typeface="Segoe UI"/>
              </a:rPr>
              <a:t>AI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5669279"/>
            <a:ext cx="2880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AA3B8"/>
                </a:solidFill>
                <a:latin typeface="Segoe UI"/>
              </a:rPr>
              <a:t>Describe a goal in plain English; the agent plans and executes multi-step tasks.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5166359"/>
            <a:ext cx="3337560" cy="1417320"/>
          </a:xfrm>
          <a:prstGeom prst="roundRect">
            <a:avLst>
              <a:gd name="adj" fmla="val 7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92440" y="5330951"/>
            <a:ext cx="2880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CEFF3"/>
                </a:solidFill>
                <a:latin typeface="Segoe UI"/>
              </a:rPr>
              <a:t>Automations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5669279"/>
            <a:ext cx="2880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AA3B8"/>
                </a:solidFill>
                <a:latin typeface="Segoe UI"/>
              </a:rPr>
              <a:t>Trigger-based rules that auto-run AI actions whenever a matching file is uploaded.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A3B8"/>
                </a:solidFill>
                <a:latin typeface="Segoe UI"/>
              </a:rPr>
              <a:t>DOCUMIND 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9AA3B8"/>
                </a:solidFill>
                <a:latin typeface="Segoe UI"/>
              </a:rPr>
              <a:t>CORE FEATURES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3B8"/>
                </a:solidFill>
                <a:latin typeface="Segoe UI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0B981"/>
                </a:solidFill>
                <a:latin typeface="Segoe UI"/>
              </a:rPr>
              <a:t>WHAT MAKES IT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CEFF3"/>
                </a:solidFill>
                <a:latin typeface="Segoe UI"/>
              </a:rPr>
              <a:t>Standout Innovations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881360" cy="841248"/>
          </a:xfrm>
          <a:prstGeom prst="roundRect">
            <a:avLst>
              <a:gd name="adj" fmla="val 8000"/>
            </a:avLst>
          </a:prstGeom>
          <a:solidFill>
            <a:srgbClr val="14171B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73152" cy="841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0B981"/>
                </a:solidFill>
                <a:latin typeface="Segoe UI"/>
              </a:rPr>
              <a:t>AI Audio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011680"/>
            <a:ext cx="7406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AA3B8"/>
                </a:solidFill>
                <a:latin typeface="Segoe UI"/>
              </a:rPr>
              <a:t>Generates a natural two-host podcast-style conversation discussing the document, played back with distinct AI voices — comparable to NotebookLM's audio overviews.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71216"/>
            <a:ext cx="10881360" cy="841248"/>
          </a:xfrm>
          <a:prstGeom prst="roundRect">
            <a:avLst>
              <a:gd name="adj" fmla="val 8000"/>
            </a:avLst>
          </a:prstGeom>
          <a:solidFill>
            <a:srgbClr val="14171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871216"/>
            <a:ext cx="73152" cy="84124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962656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3B82F6"/>
                </a:solidFill>
                <a:latin typeface="Segoe UI"/>
              </a:rPr>
              <a:t>Knowledge Graph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962656"/>
            <a:ext cx="7406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AA3B8"/>
                </a:solidFill>
                <a:latin typeface="Segoe UI"/>
              </a:rPr>
              <a:t>Extracts key entities and relationships from a document and renders an interactive, color-coded, force-directed graph — built with a custom physics simulation, no charting library.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22192"/>
            <a:ext cx="10881360" cy="841248"/>
          </a:xfrm>
          <a:prstGeom prst="roundRect">
            <a:avLst>
              <a:gd name="adj" fmla="val 8000"/>
            </a:avLst>
          </a:prstGeom>
          <a:solidFill>
            <a:srgbClr val="14171B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822192"/>
            <a:ext cx="73152" cy="84124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13632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A78BFA"/>
                </a:solidFill>
                <a:latin typeface="Segoe UI"/>
              </a:rPr>
              <a:t>Live Collaborative Cursors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913632"/>
            <a:ext cx="7406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AA3B8"/>
                </a:solidFill>
                <a:latin typeface="Segoe UI"/>
              </a:rPr>
              <a:t>Real-time WebSocket presence in Team Workspaces — see teammates' cursors move live on a shared PDF, Google-Docs style.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73168"/>
            <a:ext cx="10881360" cy="841248"/>
          </a:xfrm>
          <a:prstGeom prst="roundRect">
            <a:avLst>
              <a:gd name="adj" fmla="val 8000"/>
            </a:avLst>
          </a:prstGeom>
          <a:solidFill>
            <a:srgbClr val="14171B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773168"/>
            <a:ext cx="73152" cy="841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864608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0B981"/>
                </a:solidFill>
                <a:latin typeface="Segoe UI"/>
              </a:rPr>
              <a:t>Click-to-Locate Citations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864608"/>
            <a:ext cx="7406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AA3B8"/>
                </a:solidFill>
                <a:latin typeface="Segoe UI"/>
              </a:rPr>
              <a:t>Every chat citation is clickable — jumps the PDF viewer straight to the cited page and flashes a highlight.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724144"/>
            <a:ext cx="10881360" cy="841248"/>
          </a:xfrm>
          <a:prstGeom prst="roundRect">
            <a:avLst>
              <a:gd name="adj" fmla="val 8000"/>
            </a:avLst>
          </a:prstGeom>
          <a:solidFill>
            <a:srgbClr val="14171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5724144"/>
            <a:ext cx="73152" cy="841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815584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59E0B"/>
                </a:solidFill>
                <a:latin typeface="Segoe UI"/>
              </a:rPr>
              <a:t>Public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5815584"/>
            <a:ext cx="7406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AA3B8"/>
                </a:solidFill>
                <a:latin typeface="Segoe UI"/>
              </a:rPr>
              <a:t>Pro users generate personal access keys and call chat, summarization, and generation endpoints from their own code.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A3B8"/>
                </a:solidFill>
                <a:latin typeface="Segoe UI"/>
              </a:rPr>
              <a:t>DOCUMIND 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9AA3B8"/>
                </a:solidFill>
                <a:latin typeface="Segoe UI"/>
              </a:rPr>
              <a:t>STANDOUT INNOVATIONS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3B8"/>
                </a:solidFill>
                <a:latin typeface="Segoe UI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0B981"/>
                </a:solidFill>
                <a:latin typeface="Segoe UI"/>
              </a:rPr>
              <a:t>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CEFF3"/>
                </a:solidFill>
                <a:latin typeface="Segoe UI"/>
              </a:rPr>
              <a:t>Security, Privacy &amp; Billing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881360" cy="777240"/>
          </a:xfrm>
          <a:prstGeom prst="roundRect">
            <a:avLst>
              <a:gd name="adj" fmla="val 8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27432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0B981"/>
                </a:solidFill>
                <a:latin typeface="Segoe UI"/>
              </a:rPr>
              <a:t>Privacy-first storage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2057400"/>
            <a:ext cx="75895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9AA3B8"/>
                </a:solidFill>
                <a:latin typeface="Segoe UI"/>
              </a:rPr>
              <a:t>Uploaded documents live in memory for your session only — never written to disk unless you explicitly save a version or share to a workspace.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52928"/>
            <a:ext cx="10881360" cy="777240"/>
          </a:xfrm>
          <a:prstGeom prst="roundRect">
            <a:avLst>
              <a:gd name="adj" fmla="val 8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44368"/>
            <a:ext cx="27432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0B981"/>
                </a:solidFill>
                <a:latin typeface="Segoe UI"/>
              </a:rPr>
              <a:t>Secure authentication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2944368"/>
            <a:ext cx="75895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9AA3B8"/>
                </a:solidFill>
                <a:latin typeface="Segoe UI"/>
              </a:rPr>
              <a:t>Bcrypt password hashing, JWT access + refresh tokens, email verification, rate-limited password reset.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39896"/>
            <a:ext cx="10881360" cy="777240"/>
          </a:xfrm>
          <a:prstGeom prst="roundRect">
            <a:avLst>
              <a:gd name="adj" fmla="val 8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31336"/>
            <a:ext cx="27432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0B981"/>
                </a:solidFill>
                <a:latin typeface="Segoe UI"/>
              </a:rPr>
              <a:t>Encrypted in transit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831336"/>
            <a:ext cx="75895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9AA3B8"/>
                </a:solidFill>
                <a:latin typeface="Segoe UI"/>
              </a:rPr>
              <a:t>HTTPS everywhere, browser-only Gemini API key storage — never sent to Documind's own servers unless required for generation.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626864"/>
            <a:ext cx="10881360" cy="777240"/>
          </a:xfrm>
          <a:prstGeom prst="roundRect">
            <a:avLst>
              <a:gd name="adj" fmla="val 8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718304"/>
            <a:ext cx="27432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0B981"/>
                </a:solidFill>
                <a:latin typeface="Segoe UI"/>
              </a:rPr>
              <a:t>Stripe-managed billing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4718304"/>
            <a:ext cx="75895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9AA3B8"/>
                </a:solidFill>
                <a:latin typeface="Segoe UI"/>
              </a:rPr>
              <a:t>Card details are handled entirely by Stripe; Documind never stores payment information.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513832"/>
            <a:ext cx="10881360" cy="777240"/>
          </a:xfrm>
          <a:prstGeom prst="roundRect">
            <a:avLst>
              <a:gd name="adj" fmla="val 8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605272"/>
            <a:ext cx="27432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0B981"/>
                </a:solidFill>
                <a:latin typeface="Segoe UI"/>
              </a:rPr>
              <a:t>Tiered usage quotas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5605272"/>
            <a:ext cx="75895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9AA3B8"/>
                </a:solidFill>
                <a:latin typeface="Segoe UI"/>
              </a:rPr>
              <a:t>Free tier: 15 actions/day, 2 documents. Pro tier ($4.99/mo): unlimited actions, Team Workspaces, Public API.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A3B8"/>
                </a:solidFill>
                <a:latin typeface="Segoe UI"/>
              </a:rPr>
              <a:t>DOCUMIND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9AA3B8"/>
                </a:solidFill>
                <a:latin typeface="Segoe UI"/>
              </a:rPr>
              <a:t>SECURITY &amp; PRIVACY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3B8"/>
                </a:solidFill>
                <a:latin typeface="Segoe UI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0B981"/>
                </a:solidFill>
                <a:latin typeface="Segoe UI"/>
              </a:rPr>
              <a:t>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CEFF3"/>
                </a:solidFill>
                <a:latin typeface="Segoe UI"/>
              </a:rPr>
              <a:t>Challenges &amp; Key Learnings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5074920" cy="1965960"/>
          </a:xfrm>
          <a:prstGeom prst="roundRect">
            <a:avLst>
              <a:gd name="adj" fmla="val 6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54864" cy="19659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128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CEFF3"/>
                </a:solidFill>
                <a:latin typeface="Segoe UI"/>
              </a:rPr>
              <a:t>Mid-project model deprecation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697480"/>
            <a:ext cx="4434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AA3B8"/>
                </a:solidFill>
                <a:latin typeface="Segoe UI"/>
              </a:rPr>
              <a:t>Google deprecated gemini-2.5-flash and gemini-embedding-001 for new API keys mid-development. Required auditing every AI call site and migrating to gemini-3.5-flash / gemini-embedding-2 without breaking existing sessions.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2011680"/>
            <a:ext cx="5074920" cy="1965960"/>
          </a:xfrm>
          <a:prstGeom prst="roundRect">
            <a:avLst>
              <a:gd name="adj" fmla="val 6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80760" y="2011680"/>
            <a:ext cx="54864" cy="19659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2128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CEFF3"/>
                </a:solidFill>
                <a:latin typeface="Segoe UI"/>
              </a:rPr>
              <a:t>Real-time collaboration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697480"/>
            <a:ext cx="4434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AA3B8"/>
                </a:solidFill>
                <a:latin typeface="Segoe UI"/>
              </a:rPr>
              <a:t>Building live cursor presence required introducing WebSockets into a purely REST API, with in-memory per-workspace room management and JWT auth over a WebSocket handshake.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51960"/>
            <a:ext cx="5074920" cy="1965960"/>
          </a:xfrm>
          <a:prstGeom prst="roundRect">
            <a:avLst>
              <a:gd name="adj" fmla="val 6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251960"/>
            <a:ext cx="54864" cy="19659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45312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CEFF3"/>
                </a:solidFill>
                <a:latin typeface="Segoe UI"/>
              </a:rPr>
              <a:t>Privacy vs. collaboration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937760"/>
            <a:ext cx="4434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AA3B8"/>
                </a:solidFill>
                <a:latin typeface="Segoe UI"/>
              </a:rPr>
              <a:t>The core design promise was 'documents are never stored' — Team Workspaces and Version History required carefully scoping persistent storage as an explicit, disclosed opt-in exception rather than breaking that promise silently.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4251960"/>
            <a:ext cx="5074920" cy="1965960"/>
          </a:xfrm>
          <a:prstGeom prst="roundRect">
            <a:avLst>
              <a:gd name="adj" fmla="val 6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251960"/>
            <a:ext cx="54864" cy="19659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45312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CEFF3"/>
                </a:solidFill>
                <a:latin typeface="Segoe UI"/>
              </a:rPr>
              <a:t>Full internationalization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937760"/>
            <a:ext cx="4434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AA3B8"/>
                </a:solidFill>
                <a:latin typeface="Segoe UI"/>
              </a:rPr>
              <a:t>Supporting English, French, Arabic, and Russian — including right-to-left layout for Arabic — across every panel in the app, not just the landing page.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A3B8"/>
                </a:solidFill>
                <a:latin typeface="Segoe UI"/>
              </a:rPr>
              <a:t>DOCUMIND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9AA3B8"/>
                </a:solidFill>
                <a:latin typeface="Segoe UI"/>
              </a:rPr>
              <a:t>CHALLENGES &amp; LEARNINGS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3B8"/>
                </a:solidFill>
                <a:latin typeface="Segoe U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0" y="1828800"/>
            <a:ext cx="7315200" cy="7315200"/>
          </a:xfrm>
          <a:prstGeom prst="ellipse">
            <a:avLst/>
          </a:prstGeom>
          <a:solidFill>
            <a:srgbClr val="10B981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0B981"/>
                </a:solidFill>
                <a:latin typeface="Segoe UI"/>
              </a:rPr>
              <a:t>LIVE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ECEFF3"/>
                </a:solidFill>
                <a:latin typeface="Segoe UI"/>
              </a:rPr>
              <a:t>Let's See It in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52044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9AA3B8"/>
                </a:solidFill>
                <a:latin typeface="Segoe UI"/>
              </a:rPr>
              <a:t>Chat → Audio Overview → Knowledge Graph → Live Collaboration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4206240"/>
            <a:ext cx="4937760" cy="594360"/>
          </a:xfrm>
          <a:prstGeom prst="roundRect">
            <a:avLst>
              <a:gd name="adj" fmla="val 50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06240"/>
            <a:ext cx="49377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0B981"/>
                </a:solidFill>
                <a:latin typeface="Segoe UI"/>
              </a:rPr>
              <a:t>https://documindai.online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A3B8"/>
                </a:solidFill>
                <a:latin typeface="Segoe UI"/>
              </a:rPr>
              <a:t>DOCUMIND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9AA3B8"/>
                </a:solidFill>
                <a:latin typeface="Segoe UI"/>
              </a:rPr>
              <a:t>LIVE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3B8"/>
                </a:solidFill>
                <a:latin typeface="Segoe U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3657600"/>
            <a:ext cx="6400800" cy="6400800"/>
          </a:xfrm>
          <a:prstGeom prst="ellipse">
            <a:avLst/>
          </a:prstGeom>
          <a:solidFill>
            <a:srgbClr val="3B82F6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914400"/>
            <a:ext cx="6400800" cy="6400800"/>
          </a:xfrm>
          <a:prstGeom prst="ellipse">
            <a:avLst/>
          </a:prstGeom>
          <a:solidFill>
            <a:srgbClr val="10B981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ECEFF3"/>
                </a:solidFill>
                <a:latin typeface="Segoe U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38328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9AA3B8"/>
                </a:solidFill>
                <a:latin typeface="Segoe U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29768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0B981"/>
                </a:solidFill>
                <a:latin typeface="Segoe UI"/>
              </a:rPr>
              <a:t>LIVE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59028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ECEFF3"/>
                </a:solidFill>
                <a:latin typeface="Segoe UI"/>
              </a:rPr>
              <a:t>https://documindai.online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98348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0B981"/>
                </a:solidFill>
                <a:latin typeface="Segoe UI"/>
              </a:rPr>
              <a:t>SOURCE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7608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ECEFF3"/>
                </a:solidFill>
                <a:latin typeface="Segoe UI"/>
              </a:rPr>
              <a:t>https://github.com/Abdullah001butt/rag-pdf-chatbot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A3B8"/>
                </a:solidFill>
                <a:latin typeface="Segoe UI"/>
              </a:rPr>
              <a:t>DOCUMIND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AA3B8"/>
                </a:solidFill>
                <a:latin typeface="Segoe U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